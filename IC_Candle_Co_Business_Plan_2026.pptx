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8016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IC CANDLE CO.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2423160"/>
            <a:ext cx="2743200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60604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E5FF"/>
                </a:solidFill>
                <a:latin typeface="Calibri"/>
              </a:defRPr>
            </a:pPr>
            <a:r>
              <a:t>Business Plan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AA"/>
                </a:solidFill>
                <a:latin typeface="Calibri"/>
              </a:defRPr>
            </a:pPr>
            <a:r>
              <a:t>Custom candles powered by 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  <a:latin typeface="Calibri"/>
              </a:defRPr>
            </a:pPr>
            <a:r>
              <a:t>4 Members   |   $40/mo Operating Cost   |   $0 Marketing Agency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FF"/>
                </a:solidFill>
                <a:latin typeface="Calibri"/>
              </a:defRPr>
            </a:pPr>
            <a:r>
              <a:t>Mission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300" b="0">
                <a:solidFill>
                  <a:srgbClr val="E8E8EC"/>
                </a:solidFill>
                <a:latin typeface="Calibri"/>
              </a:defRPr>
            </a:pPr>
            <a:r>
              <a:t>To brighten homes with clean-burning, thoughtfully curated scents that provide a moment of peace — delivered through a modern, AI-driven e-commerce experience with zero waste and zero inventory risk.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E8E8E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spcAft>
                <a:spcPts val="200"/>
              </a:spcAft>
              <a:defRPr sz="1800" b="1">
                <a:solidFill>
                  <a:srgbClr val="00E5FF"/>
                </a:solidFill>
                <a:latin typeface="Calibri"/>
              </a:defRPr>
            </a:pPr>
            <a:r>
              <a:t>Business Model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300" b="0">
                <a:solidFill>
                  <a:srgbClr val="E8E8EC"/>
                </a:solidFill>
                <a:latin typeface="Calibri"/>
              </a:defRPr>
            </a:pPr>
            <a:r>
              <a:t>Customers order personalized candles from our Shopify storefront. Orders auto-route to our POD supplier who hand-pours and ships directly under our brand. AI handles all marketing — replacing $11K-19K/mo in agency costs.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E8E8E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spcAft>
                <a:spcPts val="200"/>
              </a:spcAft>
              <a:defRPr sz="1800" b="1">
                <a:solidFill>
                  <a:srgbClr val="00E5FF"/>
                </a:solidFill>
                <a:latin typeface="Calibri"/>
              </a:defRPr>
            </a:pPr>
            <a:r>
              <a:t>Key Stats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300" b="0">
                <a:solidFill>
                  <a:srgbClr val="E8E8EC"/>
                </a:solidFill>
                <a:latin typeface="Calibri"/>
              </a:defRPr>
            </a:pPr>
            <a:r>
              <a:t>•  4-person team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E8E8EC"/>
                </a:solidFill>
                <a:latin typeface="Calibri"/>
              </a:defRPr>
            </a:pPr>
            <a:r>
              <a:t>•  ~$830 launch cost (~$208/person)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E8E8EC"/>
                </a:solidFill>
                <a:latin typeface="Calibri"/>
              </a:defRPr>
            </a:pPr>
            <a:r>
              <a:t>•  Break-even at ~30 candles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E8E8EC"/>
                </a:solidFill>
                <a:latin typeface="Calibri"/>
              </a:defRPr>
            </a:pPr>
            <a:r>
              <a:t>•  43-55% margins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Team — Four Roles. Zero Overlap.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09728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C"/>
                </a:solidFill>
                <a:latin typeface="Calibri"/>
              </a:defRPr>
            </a:pPr>
            <a:r>
              <a:rPr sz="1600" b="1">
                <a:solidFill>
                  <a:srgbClr val="00E5FF"/>
                </a:solidFill>
              </a:rPr>
              <a:t>Ricardo</a:t>
            </a:r>
            <a:r>
              <a:rPr sz="1400" b="1">
                <a:solidFill>
                  <a:srgbClr val="A855F7"/>
                </a:solidFill>
              </a:rPr>
              <a:t>  —  Creative Director / Tech Lead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E8E8EC"/>
                </a:solidFill>
                <a:latin typeface="Calibri"/>
              </a:defRPr>
            </a:pPr>
            <a:r>
              <a:t>Website design, AI prompt engineering, SEO content, brand identity, product mockups. Produces all creative assets with Claude.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0515600" cy="109728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88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C"/>
                </a:solidFill>
                <a:latin typeface="Calibri"/>
              </a:defRPr>
            </a:pPr>
            <a:r>
              <a:rPr sz="1600" b="1">
                <a:solidFill>
                  <a:srgbClr val="00E5FF"/>
                </a:solidFill>
              </a:rPr>
              <a:t>Robert</a:t>
            </a:r>
            <a:r>
              <a:rPr sz="1400" b="1">
                <a:solidFill>
                  <a:srgbClr val="A855F7"/>
                </a:solidFill>
              </a:rPr>
              <a:t>  —  COO / Operations &amp; Supply Chain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E8E8EC"/>
                </a:solidFill>
                <a:latin typeface="Calibri"/>
              </a:defRPr>
            </a:pPr>
            <a:r>
              <a:t>Supplier sourcing, quality control, fulfillment, shipping, returns, customer service. Former REI head manager.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515600" cy="109728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69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C"/>
                </a:solidFill>
                <a:latin typeface="Calibri"/>
              </a:defRPr>
            </a:pPr>
            <a:r>
              <a:rPr sz="1600" b="1">
                <a:solidFill>
                  <a:srgbClr val="00E5FF"/>
                </a:solidFill>
              </a:rPr>
              <a:t>Jose</a:t>
            </a:r>
            <a:r>
              <a:rPr sz="1400" b="1">
                <a:solidFill>
                  <a:srgbClr val="A855F7"/>
                </a:solidFill>
              </a:rPr>
              <a:t>  —  Store Manager &amp; Paid Marketing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E8E8EC"/>
                </a:solidFill>
                <a:latin typeface="Calibri"/>
              </a:defRPr>
            </a:pPr>
            <a:r>
              <a:t>Shopify setup, product listings, Meta/TikTok ads, email platform (Klaviyo), analytics. Shopify experience.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10515600" cy="109728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49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C"/>
                </a:solidFill>
                <a:latin typeface="Calibri"/>
              </a:defRPr>
            </a:pPr>
            <a:r>
              <a:rPr sz="1600" b="1">
                <a:solidFill>
                  <a:srgbClr val="00E5FF"/>
                </a:solidFill>
              </a:rPr>
              <a:t>Mark</a:t>
            </a:r>
            <a:r>
              <a:rPr sz="1400" b="1">
                <a:solidFill>
                  <a:srgbClr val="A855F7"/>
                </a:solidFill>
              </a:rPr>
              <a:t>  —  CFO &amp; Business Strategy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E8E8EC"/>
                </a:solidFill>
                <a:latin typeface="Calibri"/>
              </a:defRPr>
            </a:pPr>
            <a:r>
              <a:t>LLC formation, bookkeeping, P&amp;L reporting, ad budget allocation, tax planning. Finance professional.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the Model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103120" cy="256032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Customer 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00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C"/>
                </a:solidFill>
                <a:latin typeface="Calibri"/>
              </a:defRPr>
            </a:pPr>
            <a:r>
              <a:t>Buyer places order on Shopify/Etsy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8608" y="27432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E5FF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828800"/>
            <a:ext cx="2103120" cy="256032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20116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Auto-Routed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200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C"/>
                </a:solidFill>
                <a:latin typeface="Calibri"/>
              </a:defRPr>
            </a:pPr>
            <a:r>
              <a:t>Order routes to POD supplier via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608" y="27432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E5FF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828800"/>
            <a:ext cx="2103120" cy="256032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20116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Produced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3200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C"/>
                </a:solidFill>
                <a:latin typeface="Calibri"/>
              </a:defRPr>
            </a:pPr>
            <a:r>
              <a:t>Supplier hand-pours with your label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27432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E5FF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1828800"/>
            <a:ext cx="2103120" cy="256032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20116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Shipped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3200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C"/>
                </a:solidFill>
                <a:latin typeface="Calibri"/>
              </a:defRPr>
            </a:pPr>
            <a:r>
              <a:t>Ships to customer under your brand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6608" y="27432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E5FF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1828800"/>
            <a:ext cx="2103120" cy="256032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0116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You Profit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200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C"/>
                </a:solidFill>
                <a:latin typeface="Calibri"/>
              </a:defRPr>
            </a:pPr>
            <a:r>
              <a:t>Zero inventory, zero touchpoints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C"/>
                </a:solidFill>
                <a:latin typeface="Calibri"/>
              </a:defRPr>
            </a:pPr>
            <a:r>
              <a:rPr sz="1500" b="1">
                <a:solidFill>
                  <a:srgbClr val="00E5FF"/>
                </a:solidFill>
              </a:rPr>
              <a:t>Key Insight: </a:t>
            </a:r>
            <a:r>
              <a:rPr sz="1500" b="0">
                <a:solidFill>
                  <a:srgbClr val="FFFFFF"/>
                </a:solidFill>
              </a:rPr>
              <a:t>You only pay the supplier AFTER the customer pays you.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Our Unfair Advantage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371600"/>
          <a:ext cx="9144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200400"/>
                <a:gridCol w="2286000"/>
              </a:tblGrid>
              <a:tr h="5080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E5FF"/>
                          </a:solidFill>
                          <a:latin typeface="Calibri"/>
                        </a:defRPr>
                      </a:pPr>
                      <a:r>
                        <a:t>Agency Role</a:t>
                      </a:r>
                    </a:p>
                  </a:txBody>
                  <a:tcPr anchor="ctr">
                    <a:solidFill>
                      <a:srgbClr val="1C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FF"/>
                          </a:solidFill>
                          <a:latin typeface="Calibri"/>
                        </a:defRPr>
                      </a:pPr>
                      <a:r>
                        <a:t>Market Rate</a:t>
                      </a:r>
                    </a:p>
                  </a:txBody>
                  <a:tcPr anchor="ctr">
                    <a:solidFill>
                      <a:srgbClr val="1C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FF"/>
                          </a:solidFill>
                          <a:latin typeface="Calibri"/>
                        </a:defRPr>
                      </a:pPr>
                      <a:r>
                        <a:t>Our Cost</a:t>
                      </a:r>
                    </a:p>
                  </a:txBody>
                  <a:tcPr anchor="ctr">
                    <a:solidFill>
                      <a:srgbClr val="1C1C2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Web Designer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$2,000-4,000/mo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FF64"/>
                          </a:solidFill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SEO Specialist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$1,500-3,000/mo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FF64"/>
                          </a:solidFill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Copywriter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$2,000-3,000/mo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FF64"/>
                          </a:solidFill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Email Marketer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$1,000-2,000/mo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FF64"/>
                          </a:solidFill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Social Media Manager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$1,500-2,000/mo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FF64"/>
                          </a:solidFill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Brand Strategist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$2,000-3,000/mo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FF64"/>
                          </a:solidFill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Market Researcher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$1,500-2,000/mo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FF64"/>
                          </a:solidFill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855F7"/>
                          </a:solidFill>
                          <a:latin typeface="Calibri"/>
                        </a:defRPr>
                      </a:pPr>
                      <a:r>
                        <a:t>$11,500-19,000/mo</a:t>
                      </a:r>
                    </a:p>
                  </a:txBody>
                  <a:tcPr anchor="ctr"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FF64"/>
                          </a:solidFill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1E1E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Market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46304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5FF"/>
                </a:solidFill>
                <a:latin typeface="Calibri"/>
              </a:defRPr>
            </a:pPr>
            <a:r>
              <a:t>Industry Trends (2026)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E8E8EC"/>
                </a:solidFill>
                <a:latin typeface="Calibri"/>
              </a:defRPr>
            </a:pPr>
            <a:r>
              <a:t>•  Global scented candle market growing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E8E8EC"/>
                </a:solidFill>
                <a:latin typeface="Calibri"/>
              </a:defRPr>
            </a:pPr>
            <a:r>
              <a:t>•  Shift to sustainability and wellness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10515600" cy="146304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5FF"/>
                </a:solidFill>
                <a:latin typeface="Calibri"/>
              </a:defRPr>
            </a:pPr>
            <a:r>
              <a:t>Target Market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E8E8EC"/>
                </a:solidFill>
                <a:latin typeface="Calibri"/>
              </a:defRPr>
            </a:pPr>
            <a:r>
              <a:t>•  Age 25-40, homeowners/apartment dwellers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E8E8EC"/>
                </a:solidFill>
                <a:latin typeface="Calibri"/>
              </a:defRPr>
            </a:pPr>
            <a:r>
              <a:t>•  Eco-conscious, self-care focused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515600" cy="146304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920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5FF"/>
                </a:solidFill>
                <a:latin typeface="Calibri"/>
              </a:defRPr>
            </a:pPr>
            <a:r>
              <a:t>Competitive Advantage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E8E8EC"/>
                </a:solidFill>
                <a:latin typeface="Calibri"/>
              </a:defRPr>
            </a:pPr>
            <a:r>
              <a:t>•  Unique artisanal scents, non-toxic wax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E8E8EC"/>
                </a:solidFill>
                <a:latin typeface="Calibri"/>
              </a:defRPr>
            </a:pPr>
            <a:r>
              <a:t>•  Lean POD model eliminates inventory risk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Niche &amp; Positioning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C"/>
                </a:solidFill>
                <a:latin typeface="Calibri"/>
              </a:defRPr>
            </a:pPr>
            <a:r>
              <a:rPr sz="1500">
                <a:solidFill>
                  <a:srgbClr val="E8E8EC"/>
                </a:solidFill>
              </a:rPr>
              <a:t>The scent is not the niche — the </a:t>
            </a:r>
            <a:r>
              <a:rPr sz="1500" b="1">
                <a:solidFill>
                  <a:srgbClr val="00E5FF"/>
                </a:solidFill>
              </a:rPr>
              <a:t>STORY</a:t>
            </a:r>
            <a:r>
              <a:rPr sz="1500">
                <a:solidFill>
                  <a:srgbClr val="E8E8EC"/>
                </a:solidFill>
              </a:rPr>
              <a:t> around it is.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657600"/>
                <a:gridCol w="3383280"/>
              </a:tblGrid>
              <a:tr h="627017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Calibri"/>
                        </a:defRPr>
                      </a:pPr>
                      <a:r>
                        <a:t>Supplier Scent</a:t>
                      </a:r>
                    </a:p>
                  </a:txBody>
                  <a:tcPr anchor="ctr">
                    <a:solidFill>
                      <a:srgbClr val="1C1C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Calibri"/>
                        </a:defRPr>
                      </a:pPr>
                      <a:r>
                        <a:t>Niche Angle</a:t>
                      </a:r>
                    </a:p>
                  </a:txBody>
                  <a:tcPr anchor="ctr">
                    <a:solidFill>
                      <a:srgbClr val="1C1C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Calibri"/>
                        </a:defRPr>
                      </a:pPr>
                      <a:r>
                        <a:t>Target Buyer</a:t>
                      </a:r>
                    </a:p>
                  </a:txBody>
                  <a:tcPr anchor="ctr">
                    <a:solidFill>
                      <a:srgbClr val="1C1C2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Vanilla / Warm Spice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Wedding Favors, Bridal Gifts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Brides, Wedding Planners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Eucalyptus / Lavender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Wellness, Yoga, Self-Care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Wellness Community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Sea Breeze / Ocean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Coastal Decor, Beach Homes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Coastal Lifestyle Buyers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Cedar / Woodsy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Masculine Gifting, Outdoors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Men's Gift Market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Citrus / Grapefruit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Energizing, Morning Routines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Productivity &amp; Wellness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Pumpkin / Balsam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Seasonal / Holiday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Holiday Gift Buyers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Sales Channels — Sell Everywhere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219456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5FF"/>
                </a:solidFill>
                <a:latin typeface="Calibri"/>
              </a:defRPr>
            </a:pPr>
            <a:r>
              <a:t>Shopify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C"/>
                </a:solidFill>
                <a:latin typeface="Calibri"/>
              </a:defRPr>
            </a:pPr>
            <a:r>
              <a:t>Home 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219456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5FF"/>
                </a:solidFill>
                <a:latin typeface="Calibri"/>
              </a:defRPr>
            </a:pPr>
            <a:r>
              <a:t>Etsy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5603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C"/>
                </a:solidFill>
                <a:latin typeface="Calibri"/>
              </a:defRPr>
            </a:pPr>
            <a:r>
              <a:t>#1 for personalized gifts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291840" cy="219456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5FF"/>
                </a:solidFill>
                <a:latin typeface="Calibri"/>
              </a:defRPr>
            </a:pPr>
            <a:r>
              <a:t>TikTok 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5603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C"/>
                </a:solidFill>
                <a:latin typeface="Calibri"/>
              </a:defRPr>
            </a:pPr>
            <a:r>
              <a:t>Sell in viral videos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3291840" cy="219456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5FF"/>
                </a:solidFill>
                <a:latin typeface="Calibri"/>
              </a:defRPr>
            </a:pPr>
            <a:r>
              <a:t>Instagram Shop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C"/>
                </a:solidFill>
                <a:latin typeface="Calibri"/>
              </a:defRPr>
            </a:pPr>
            <a:r>
              <a:t>Tag in posts/reels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023360"/>
            <a:ext cx="3291840" cy="219456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5FF"/>
                </a:solidFill>
                <a:latin typeface="Calibri"/>
              </a:defRPr>
            </a:pPr>
            <a:r>
              <a:t>Amazon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1206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C"/>
                </a:solidFill>
                <a:latin typeface="Calibri"/>
              </a:defRPr>
            </a:pPr>
            <a:r>
              <a:t>Massive trust + gift traffic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023360"/>
            <a:ext cx="3291840" cy="219456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3891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5FF"/>
                </a:solidFill>
                <a:latin typeface="Calibri"/>
              </a:defRPr>
            </a:pPr>
            <a:r>
              <a:t>SEO Blog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1206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C"/>
                </a:solidFill>
                <a:latin typeface="Calibri"/>
              </a:defRPr>
            </a:pPr>
            <a:r>
              <a:t>Free Google traffic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Margin Model — Mid-Range Pricing ($25-$45)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548640"/>
          </a:xfrm>
          <a:prstGeom prst="roundRect">
            <a:avLst/>
          </a:prstGeom>
          <a:solidFill>
            <a:srgbClr val="1C1C2A"/>
          </a:solidFill>
          <a:ln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5FF"/>
                </a:solidFill>
                <a:latin typeface="Calibri"/>
              </a:defRPr>
            </a:pPr>
            <a:r>
              <a:t>Conservative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Retail Price</a:t>
                      </a:r>
                    </a:p>
                  </a:txBody>
                  <a:tcPr anchor="ctr">
                    <a:solidFill>
                      <a:srgbClr val="1C1C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$28</a:t>
                      </a:r>
                    </a:p>
                  </a:txBody>
                  <a:tcPr anchor="ctr">
                    <a:solidFill>
                      <a:srgbClr val="1C1C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Supplier Cost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~$13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Fees (10%)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~$2.80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Margin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00FF64"/>
                          </a:solidFill>
                          <a:latin typeface="Calibri"/>
                        </a:defRPr>
                      </a:pPr>
                      <a:r>
                        <a:t>~$12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Margin %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00FF64"/>
                          </a:solidFill>
                          <a:latin typeface="Calibri"/>
                        </a:defRPr>
                      </a:pPr>
                      <a:r>
                        <a:t>~43%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217920" y="1371600"/>
            <a:ext cx="5029200" cy="548640"/>
          </a:xfrm>
          <a:prstGeom prst="roundRect">
            <a:avLst/>
          </a:prstGeom>
          <a:solidFill>
            <a:srgbClr val="1C1C2A"/>
          </a:solidFill>
          <a:ln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855F7"/>
                </a:solidFill>
                <a:latin typeface="Calibri"/>
              </a:defRPr>
            </a:pPr>
            <a:r>
              <a:t>Strong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201168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Retail Price</a:t>
                      </a:r>
                    </a:p>
                  </a:txBody>
                  <a:tcPr anchor="ctr">
                    <a:solidFill>
                      <a:srgbClr val="1C1C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$42</a:t>
                      </a:r>
                    </a:p>
                  </a:txBody>
                  <a:tcPr anchor="ctr">
                    <a:solidFill>
                      <a:srgbClr val="1C1C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Supplier Cost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~$15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Fees (10%)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~$4.20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Margin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00FF64"/>
                          </a:solidFill>
                          <a:latin typeface="Calibri"/>
                        </a:defRPr>
                      </a:pPr>
                      <a:r>
                        <a:t>~$23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Margin %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00FF64"/>
                          </a:solidFill>
                          <a:latin typeface="Calibri"/>
                        </a:defRPr>
                      </a:pPr>
                      <a:r>
                        <a:t>~55%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5120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FF"/>
                </a:solidFill>
                <a:latin typeface="Calibri"/>
              </a:defRPr>
            </a:pPr>
            <a:r>
              <a:t>Shipping Strategies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300" b="0">
                <a:solidFill>
                  <a:srgbClr val="E8E8EC"/>
                </a:solidFill>
                <a:latin typeface="Calibri"/>
              </a:defRPr>
            </a:pPr>
            <a:r>
              <a:t>•  Pass to customer   •  Build into price   •  Free threshold (2+ candles)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Supplier Scorecard — Product, Fulfillment &amp;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4300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975104"/>
                <a:gridCol w="1975104"/>
                <a:gridCol w="1975104"/>
                <a:gridCol w="1975104"/>
                <a:gridCol w="1975104"/>
              </a:tblGrid>
              <a:tr h="294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C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  <a:latin typeface="Calibri"/>
                        </a:defRPr>
                      </a:pPr>
                      <a:r>
                        <a:t>Candle Bliss</a:t>
                      </a:r>
                    </a:p>
                  </a:txBody>
                  <a:tcPr anchor="ctr">
                    <a:solidFill>
                      <a:srgbClr val="1C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  <a:latin typeface="Calibri"/>
                        </a:defRPr>
                      </a:pPr>
                      <a:r>
                        <a:t>Candle Bldrs</a:t>
                      </a:r>
                    </a:p>
                  </a:txBody>
                  <a:tcPr anchor="ctr">
                    <a:solidFill>
                      <a:srgbClr val="1C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  <a:latin typeface="Calibri"/>
                        </a:defRPr>
                      </a:pPr>
                      <a:r>
                        <a:t>Printify</a:t>
                      </a:r>
                    </a:p>
                  </a:txBody>
                  <a:tcPr anchor="ctr">
                    <a:solidFill>
                      <a:srgbClr val="1C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  <a:latin typeface="Calibri"/>
                        </a:defRPr>
                      </a:pPr>
                      <a:r>
                        <a:t>Printed Mint</a:t>
                      </a:r>
                    </a:p>
                  </a:txBody>
                  <a:tcPr anchor="ctr">
                    <a:solidFill>
                      <a:srgbClr val="1C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  <a:latin typeface="Calibri"/>
                        </a:defRPr>
                      </a:pPr>
                      <a:r>
                        <a:t>Printful</a:t>
                      </a:r>
                    </a:p>
                  </a:txBody>
                  <a:tcPr anchor="ctr">
                    <a:solidFill>
                      <a:srgbClr val="1C1C2A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A855F7"/>
                          </a:solidFill>
                          <a:latin typeface="Calibri"/>
                        </a:defRPr>
                      </a:pPr>
                      <a:r>
                        <a:t>PRODUCT</a:t>
                      </a:r>
                    </a:p>
                  </a:txBody>
                  <a:tcPr anchor="ctr">
                    <a:solidFill>
                      <a:srgbClr val="1919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919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919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919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919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91928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True POD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White Label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Scent Variety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 20+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 8+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 10+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⚠ 4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⚠ 9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Vessel Options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 Tins+3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⚠ 3 glass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⚠ Glass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 Multi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❌ 1 jar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Wax Type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Coco/Apricot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Soy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Soy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Coco/Apricot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Soy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Gift Packaging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 WL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 Full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A855F7"/>
                          </a:solidFill>
                          <a:latin typeface="Calibri"/>
                        </a:defRPr>
                      </a:pPr>
                      <a:r>
                        <a:t>FULFILLMENT</a:t>
                      </a:r>
                    </a:p>
                  </a:txBody>
                  <a:tcPr anchor="ctr">
                    <a:solidFill>
                      <a:srgbClr val="1919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919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919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919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919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91928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Speed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 1-3d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 1-2d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⚠ Varies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⚠ 4-7d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 Fast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US-Based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 AZ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 NH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 Most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No MOQ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A855F7"/>
                          </a:solidFill>
                          <a:latin typeface="Calibri"/>
                        </a:defRPr>
                      </a:pPr>
                      <a:r>
                        <a:t>INTEGRATION</a:t>
                      </a:r>
                    </a:p>
                  </a:txBody>
                  <a:tcPr anchor="ctr">
                    <a:solidFill>
                      <a:srgbClr val="1919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919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919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919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919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91928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Shopify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 Native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 Native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Etsy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Amazon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 Multi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 OD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 23+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Personalization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Startup Cost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 Free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 Free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 Free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 Free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 Free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Supplier Scorecard — Sustainability &amp;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43000"/>
          <a:ext cx="115214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975104"/>
                <a:gridCol w="1975104"/>
                <a:gridCol w="1975104"/>
                <a:gridCol w="1975104"/>
                <a:gridCol w="1975104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C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  <a:latin typeface="Calibri"/>
                        </a:defRPr>
                      </a:pPr>
                      <a:r>
                        <a:t>Candle Bliss</a:t>
                      </a:r>
                    </a:p>
                  </a:txBody>
                  <a:tcPr anchor="ctr">
                    <a:solidFill>
                      <a:srgbClr val="1C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  <a:latin typeface="Calibri"/>
                        </a:defRPr>
                      </a:pPr>
                      <a:r>
                        <a:t>Candle Bldrs</a:t>
                      </a:r>
                    </a:p>
                  </a:txBody>
                  <a:tcPr anchor="ctr">
                    <a:solidFill>
                      <a:srgbClr val="1C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  <a:latin typeface="Calibri"/>
                        </a:defRPr>
                      </a:pPr>
                      <a:r>
                        <a:t>Printify</a:t>
                      </a:r>
                    </a:p>
                  </a:txBody>
                  <a:tcPr anchor="ctr">
                    <a:solidFill>
                      <a:srgbClr val="1C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  <a:latin typeface="Calibri"/>
                        </a:defRPr>
                      </a:pPr>
                      <a:r>
                        <a:t>Printed Mint</a:t>
                      </a:r>
                    </a:p>
                  </a:txBody>
                  <a:tcPr anchor="ctr">
                    <a:solidFill>
                      <a:srgbClr val="1C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  <a:latin typeface="Calibri"/>
                        </a:defRPr>
                      </a:pPr>
                      <a:r>
                        <a:t>Printful</a:t>
                      </a:r>
                    </a:p>
                  </a:txBody>
                  <a:tcPr anchor="ctr">
                    <a:solidFill>
                      <a:srgbClr val="1C1C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A855F7"/>
                          </a:solidFill>
                          <a:latin typeface="Calibri"/>
                        </a:defRPr>
                      </a:pPr>
                      <a:r>
                        <a:t>SUSTAINABILITY</a:t>
                      </a:r>
                    </a:p>
                  </a:txBody>
                  <a:tcPr anchor="ctr">
                    <a:solidFill>
                      <a:srgbClr val="1919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919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919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919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919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9192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Plant-Based Wax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No Paraffin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Vegan/Cruelty-Free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⚠ N/S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Phthalate-Free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 Prop65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⚠ Varies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⚠ N/S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Clean Wick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⚠ N/S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 Cotton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⚠ Varies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⚠ N/S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⚠ N/S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No Synthetic Dyes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⚠ N/S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⚠ Varies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⚠ N/S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⚠ N/S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Recyclable Vessel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USA-Sourced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 Wax+Fr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 Wax+Fr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⚠ Varies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⚠ N/S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⚠ N/S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A855F7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 anchor="ctr">
                    <a:solidFill>
                      <a:srgbClr val="1919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919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919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919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919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9192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Record Keeping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 Auto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 Auto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 Dashboard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⚠ Manual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8E8EC"/>
                          </a:solidFill>
                          <a:latin typeface="Calibri"/>
                        </a:defRPr>
                      </a:pPr>
                      <a:r>
                        <a:t>✅ Full</a:t>
                      </a:r>
                    </a:p>
                  </a:txBody>
                  <a:tcPr anchor="ctr">
                    <a:solidFill>
                      <a:srgbClr val="12121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A"/>
                </a:solidFill>
                <a:latin typeface="Calibri"/>
              </a:defRPr>
            </a:pPr>
            <a:r>
              <a:t>N/S = Not stated publicly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Recommended Suppliers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32588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C"/>
                </a:solidFill>
                <a:latin typeface="Calibri"/>
              </a:defRPr>
            </a:pPr>
            <a:r>
              <a:rPr sz="1600" b="1">
                <a:solidFill>
                  <a:srgbClr val="00E5FF"/>
                </a:solidFill>
              </a:rPr>
              <a:t>#1  Candle Bliss</a:t>
            </a:r>
            <a:r>
              <a:rPr sz="1200">
                <a:solidFill>
                  <a:srgbClr val="A0A0AA"/>
                </a:solidFill>
              </a:rPr>
              <a:t>  (candlebliss.com)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E8E8EC"/>
                </a:solidFill>
                <a:latin typeface="Calibri"/>
              </a:defRPr>
            </a:pPr>
            <a:r>
              <a:t>Best scent library (20+), strong packaging, free apps, Phoenix AZ, 1-3 day turnaround.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00FF64"/>
                </a:solidFill>
                <a:latin typeface="Calibri"/>
              </a:defRPr>
            </a:pPr>
            <a:r>
              <a:t>Best for: gifting, scent-forward.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A0A0AA"/>
                </a:solidFill>
                <a:latin typeface="Calibri"/>
              </a:defRPr>
            </a:pPr>
            <a:r>
              <a:t>Gap: Coco/apricot only.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80360"/>
            <a:ext cx="10515600" cy="132588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9718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C"/>
                </a:solidFill>
                <a:latin typeface="Calibri"/>
              </a:defRPr>
            </a:pPr>
            <a:r>
              <a:rPr sz="1600" b="1">
                <a:solidFill>
                  <a:srgbClr val="00E5FF"/>
                </a:solidFill>
              </a:rPr>
              <a:t>#2  Printed Mint</a:t>
            </a:r>
            <a:r>
              <a:rPr sz="1200">
                <a:solidFill>
                  <a:srgbClr val="A0A0AA"/>
                </a:solidFill>
              </a:rPr>
              <a:t>  (printedmint.com)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E8E8EC"/>
                </a:solidFill>
                <a:latin typeface="Calibri"/>
              </a:defRPr>
            </a:pPr>
            <a:r>
              <a:t>Best gift packaging.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00FF64"/>
                </a:solidFill>
                <a:latin typeface="Calibri"/>
              </a:defRPr>
            </a:pPr>
            <a:r>
              <a:t>Best for: gift niche, unboxing.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A0A0AA"/>
                </a:solidFill>
                <a:latin typeface="Calibri"/>
              </a:defRPr>
            </a:pPr>
            <a:r>
              <a:t>Gap: 4 scents, 4-7 days, manual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515600" cy="132588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4805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C"/>
                </a:solidFill>
                <a:latin typeface="Calibri"/>
              </a:defRPr>
            </a:pPr>
            <a:r>
              <a:rPr sz="1600" b="1">
                <a:solidFill>
                  <a:srgbClr val="00E5FF"/>
                </a:solidFill>
              </a:rPr>
              <a:t>#3  Candle Builders</a:t>
            </a:r>
            <a:r>
              <a:rPr sz="1200">
                <a:solidFill>
                  <a:srgbClr val="A0A0AA"/>
                </a:solidFill>
              </a:rPr>
              <a:t>  (candlebuilders.com)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E8E8EC"/>
                </a:solidFill>
                <a:latin typeface="Calibri"/>
              </a:defRPr>
            </a:pPr>
            <a:r>
              <a:t>Fast (1-2 days), native integrations, 8+ scents.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00FF64"/>
                </a:solidFill>
                <a:latin typeface="Calibri"/>
              </a:defRPr>
            </a:pPr>
            <a:r>
              <a:t>Best for: speed, soy positioning.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A0A0AA"/>
                </a:solidFill>
                <a:latin typeface="Calibri"/>
              </a:defRPr>
            </a:pPr>
            <a:r>
              <a:t>Gap: Soy only, 3 glass types.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640080"/>
          </a:xfrm>
          <a:prstGeom prst="roundRect">
            <a:avLst/>
          </a:prstGeom>
          <a:solidFill>
            <a:srgbClr val="19192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C"/>
                </a:solidFill>
                <a:latin typeface="Calibri"/>
              </a:defRPr>
            </a:pPr>
            <a:r>
              <a:rPr sz="1400" b="1">
                <a:solidFill>
                  <a:srgbClr val="00E5FF"/>
                </a:solidFill>
              </a:rPr>
              <a:t>Recommendation: </a:t>
            </a:r>
            <a:r>
              <a:rPr sz="1400">
                <a:solidFill>
                  <a:srgbClr val="FFFFFF"/>
                </a:solidFill>
              </a:rPr>
              <a:t>Launch with Candle Bliss on Etsy. Add Printed Mint for gift SKUs later.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475488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5FF"/>
                </a:solidFill>
                <a:latin typeface="Calibri"/>
              </a:defRPr>
            </a:pPr>
            <a:r>
              <a:t>Startup Costs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C"/>
                </a:solidFill>
                <a:latin typeface="Calibri"/>
              </a:defRPr>
            </a:pPr>
            <a:r>
              <a:t>FL LLC: $125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E8E8EC"/>
                </a:solidFill>
                <a:latin typeface="Calibri"/>
              </a:defRPr>
            </a:pPr>
            <a:r>
              <a:t>Shopify: $39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E8E8EC"/>
                </a:solidFill>
                <a:latin typeface="Calibri"/>
              </a:defRPr>
            </a:pPr>
            <a:r>
              <a:t>Domain: $15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E8E8EC"/>
                </a:solidFill>
                <a:latin typeface="Calibri"/>
              </a:defRPr>
            </a:pPr>
            <a:r>
              <a:t>Samples: $150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E8E8EC"/>
                </a:solidFill>
                <a:latin typeface="Calibri"/>
              </a:defRPr>
            </a:pPr>
            <a:r>
              <a:t>Ads: $500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E8E8EC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Total: ~$830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E8E8EC"/>
                </a:solidFill>
                <a:latin typeface="Calibri"/>
              </a:defRPr>
            </a:pPr>
            <a:r>
              <a:t>(~$208/person)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474720" cy="475488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855F7"/>
                </a:solidFill>
                <a:latin typeface="Calibri"/>
              </a:defRPr>
            </a:pPr>
            <a:r>
              <a:t>Unit Economics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0312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C"/>
                </a:solidFill>
                <a:latin typeface="Calibri"/>
              </a:defRPr>
            </a:pPr>
            <a:r>
              <a:t>Sale: $28-38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E8E8EC"/>
                </a:solidFill>
                <a:latin typeface="Calibri"/>
              </a:defRPr>
            </a:pPr>
            <a:r>
              <a:t>POD: -$12-16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E8E8EC"/>
                </a:solidFill>
                <a:latin typeface="Calibri"/>
              </a:defRPr>
            </a:pPr>
            <a:r>
              <a:t>Shipping: -$5-8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Profit: $10-14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E8E8EC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E8E8EC"/>
                </a:solidFill>
                <a:latin typeface="Calibri"/>
              </a:defRPr>
            </a:pPr>
            <a:r>
              <a:t>Overhead: ~$140/mo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Break-even: ~30 candles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71600"/>
            <a:ext cx="3474720" cy="475488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5FF"/>
                </a:solidFill>
                <a:latin typeface="Calibri"/>
              </a:defRPr>
            </a:pPr>
            <a:r>
              <a:t>Profit 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0312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C"/>
                </a:solidFill>
                <a:latin typeface="Calibri"/>
              </a:defRPr>
            </a:pPr>
            <a:r>
              <a:t>60% Reinvest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E8E8EC"/>
                </a:solidFill>
                <a:latin typeface="Calibri"/>
              </a:defRPr>
            </a:pPr>
            <a:r>
              <a:t>25% Reserve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E8E8EC"/>
                </a:solidFill>
                <a:latin typeface="Calibri"/>
              </a:defRPr>
            </a:pPr>
            <a:r>
              <a:t>15% Member Distribution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Foundation — Weeks 1-2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2743200" cy="512064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5FF"/>
                </a:solidFill>
                <a:latin typeface="Calibri"/>
              </a:defRPr>
            </a:pPr>
            <a:r>
              <a:t>Ricardo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920240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Research competitor stores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Select color palette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Design logo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Homepage mockup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3 label templates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Set up IG + TikTok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Brand style guide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280160"/>
            <a:ext cx="2743200" cy="512064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855F7"/>
                </a:solidFill>
                <a:latin typeface="Calibri"/>
              </a:defRPr>
            </a:pPr>
            <a:r>
              <a:t>Robert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920240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Compare top 5 suppliers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Apply Candle Bliss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Apply Printed Mint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Order samples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Document terms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Research insurance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Supplier spreadsheet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80160"/>
            <a:ext cx="2743200" cy="512064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5FF"/>
                </a:solidFill>
                <a:latin typeface="Calibri"/>
              </a:defRPr>
            </a:pPr>
            <a:r>
              <a:t>Jose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920240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Create Shopify ($39)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Buy domain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Install Candle Bliss + Klaviyo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Shopify Payments + PayPal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Research Etsy pricing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GA + Pixel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Placeholder collections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280160"/>
            <a:ext cx="2743200" cy="512064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855F7"/>
                </a:solidFill>
                <a:latin typeface="Calibri"/>
              </a:defRPr>
            </a:pPr>
            <a:r>
              <a:t>Mark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1920240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File FL LLC ($125 Sunbiz)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EIN (IRS.gov)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Bank account (Mercury)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Wave accounting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Operating agreement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Budget tracker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FL sales tax research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Build — Weeks 3-4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2743200" cy="512064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5FF"/>
                </a:solidFill>
                <a:latin typeface="Calibri"/>
              </a:defRPr>
            </a:pPr>
            <a:r>
              <a:t>Ricardo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920240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Full Shopify theme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Product pages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Customizer tool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AI mockups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SEO descriptions (8-10)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Email popup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Social templates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280160"/>
            <a:ext cx="2743200" cy="512064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855F7"/>
                </a:solidFill>
                <a:latin typeface="Calibri"/>
              </a:defRPr>
            </a:pPr>
            <a:r>
              <a:t>Robert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920240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Burn-test samples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Select supplier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Set up fulfillment app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Shipping rates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Returns policy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CS templates (10)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Secure insurance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80160"/>
            <a:ext cx="2743200" cy="512064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5FF"/>
                </a:solidFill>
                <a:latin typeface="Calibri"/>
              </a:defRPr>
            </a:pPr>
            <a:r>
              <a:t>Jose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920240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Upload all products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Shipping + tax config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Open Etsy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5 Etsy listings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Klaviyo capture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Welcome sequence (3 emails)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Meta Business 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280160"/>
            <a:ext cx="2743200" cy="512064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855F7"/>
                </a:solidFill>
                <a:latin typeface="Calibri"/>
              </a:defRPr>
            </a:pPr>
            <a:r>
              <a:t>Mark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1920240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Pricing model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Unit economics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Weekly P&amp;L template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Sales tax collection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Ad budget rules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3/6/12-month projections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□  Profit-split tracking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Launch, Ads &amp; Scale — Weeks 5-8+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3566160" cy="512064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E5FF"/>
                </a:solidFill>
                <a:latin typeface="Calibri"/>
              </a:defRPr>
            </a:pPr>
            <a:r>
              <a:t>Soft Launch (Wk 5-6)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▸  QA store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▸  Launch graphics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▸  Blog posts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▸  Daily social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▸  Test orders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▸  Verify pipeline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▸  GO LIVE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▸  Instagram Shopping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▸  TikTok Shop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▸  Collect reviews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▸  Record financials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▸  Verify tax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280160"/>
            <a:ext cx="3566160" cy="512064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855F7"/>
                </a:solidFill>
                <a:latin typeface="Calibri"/>
              </a:defRPr>
            </a:pPr>
            <a:r>
              <a:t>Paid Ads (Wk 7-8)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92024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▸  5 ad creatives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▸  Retargeting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▸  More blog posts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▸  3 Meta campaigns ($20-30/day)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▸  Abandoned cart flow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▸  TikTok push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▸  Track ROAS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▸  Calculate CAC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▸  Monthly P&amp;L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80160"/>
            <a:ext cx="3566160" cy="512064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E5FF"/>
                </a:solidFill>
                <a:latin typeface="Calibri"/>
              </a:defRPr>
            </a:pPr>
            <a:r>
              <a:t>Scale (Mo 3+)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192024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▸  Double winning ads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▸  Google Shopping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▸  TikTok ads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▸  Seasonal collection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▸  Amazon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▸  Add Printed Mint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▸  Reinvest 60%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E8E8EC"/>
                </a:solidFill>
                <a:latin typeface="Calibri"/>
              </a:defRPr>
            </a:pPr>
            <a:r>
              <a:t>▸  Quarterly review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Risk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228600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5FF"/>
                </a:solidFill>
                <a:latin typeface="Calibri"/>
              </a:defRPr>
            </a:pPr>
            <a:r>
              <a:t>Chargeback Risk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E8E8EC"/>
                </a:solidFill>
                <a:latin typeface="Calibri"/>
              </a:defRPr>
            </a:pPr>
            <a:r>
              <a:t>•  Seller of record liability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E8E8EC"/>
                </a:solidFill>
                <a:latin typeface="Calibri"/>
              </a:defRPr>
            </a:pPr>
            <a:r>
              <a:t>•  Document everything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029200" cy="228600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5FF"/>
                </a:solidFill>
                <a:latin typeface="Calibri"/>
              </a:defRPr>
            </a:pPr>
            <a:r>
              <a:t>Returns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E8E8EC"/>
                </a:solidFill>
                <a:latin typeface="Calibri"/>
              </a:defRPr>
            </a:pPr>
            <a:r>
              <a:t>•  No supplier returns on POD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E8E8EC"/>
                </a:solidFill>
                <a:latin typeface="Calibri"/>
              </a:defRPr>
            </a:pPr>
            <a:r>
              <a:t>•  Replace damaged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E8E8EC"/>
                </a:solidFill>
                <a:latin typeface="Calibri"/>
              </a:defRPr>
            </a:pPr>
            <a:r>
              <a:t>•  Store credit for changes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E8E8EC"/>
                </a:solidFill>
                <a:latin typeface="Calibri"/>
              </a:defRPr>
            </a:pPr>
            <a:r>
              <a:t>•  Final sale on personalized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029200" cy="228600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5FF"/>
                </a:solidFill>
                <a:latin typeface="Calibri"/>
              </a:defRPr>
            </a:pPr>
            <a:r>
              <a:t>Insurance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E8E8EC"/>
                </a:solidFill>
                <a:latin typeface="Calibri"/>
              </a:defRPr>
            </a:pPr>
            <a:r>
              <a:t>•  General + Product Liability $300-600/yr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E8E8EC"/>
                </a:solidFill>
                <a:latin typeface="Calibri"/>
              </a:defRPr>
            </a:pPr>
            <a:r>
              <a:t>•  Next / Thimble / Hiscox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E8E8EC"/>
                </a:solidFill>
                <a:latin typeface="Calibri"/>
              </a:defRPr>
            </a:pPr>
            <a:r>
              <a:t>•  Get before first sale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029200" cy="2286000"/>
          </a:xfrm>
          <a:prstGeom prst="roundRect">
            <a:avLst/>
          </a:prstGeom>
          <a:solidFill>
            <a:srgbClr val="12121C"/>
          </a:solidFill>
          <a:ln w="63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6908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5FF"/>
                </a:solidFill>
                <a:latin typeface="Calibri"/>
              </a:defRPr>
            </a:pPr>
            <a:r>
              <a:t>Record Keeping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E8E8EC"/>
                </a:solidFill>
                <a:latin typeface="Calibri"/>
              </a:defRPr>
            </a:pPr>
            <a:r>
              <a:t>•  Log every order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E8E8EC"/>
                </a:solidFill>
                <a:latin typeface="Calibri"/>
              </a:defRPr>
            </a:pPr>
            <a:r>
              <a:t>•  Screenshot comms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E8E8EC"/>
                </a:solidFill>
                <a:latin typeface="Calibri"/>
              </a:defRPr>
            </a:pPr>
            <a:r>
              <a:t>•  Use dashboards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E8E8EC"/>
                </a:solidFill>
                <a:latin typeface="Calibri"/>
              </a:defRPr>
            </a:pPr>
            <a:r>
              <a:t>•  Manual for Printed Mint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